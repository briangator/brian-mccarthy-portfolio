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Enhancing Operational Efficiency and Patient Experience at HealthFirst 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Brian McCarthy | Business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HealthFirst Care experienced increasing patient complaints related to wait times and communication delays.</a:t>
            </a:r>
          </a:p>
          <a:p>
            <a:r>
              <a:t>Data analysis identified peak scheduling bottlenecks in General Medicine and Cardiology.</a:t>
            </a:r>
          </a:p>
          <a:p>
            <a:r>
              <a:t>Resource utilization analysis showed uneven staff and equipment allocation across departments.</a:t>
            </a:r>
          </a:p>
          <a:p>
            <a:r>
              <a:t>Patient feedback scores were strongly correlated with appointment wait times.</a:t>
            </a:r>
          </a:p>
          <a:p>
            <a:r>
              <a:t>Risk management strategies were developed to address staffing, integration, and operational risks.</a:t>
            </a:r>
          </a:p>
          <a:p>
            <a:r>
              <a:t>Recommendations include automated scheduling, improved communication workflows, and resource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HealthFirst Care launched an operational improvement initiative to enhance patient experience.</a:t>
            </a:r>
          </a:p>
          <a:p>
            <a:r>
              <a:t>The analysis focused on reducing delays, optimizing resource usage, and improving stakeholder communication.</a:t>
            </a:r>
          </a:p>
          <a:p>
            <a:r>
              <a:t>Business Analysis methods were applied using BRD, RTM, stakeholder analysis, and risk assessment frameworks.</a:t>
            </a:r>
          </a:p>
          <a:p>
            <a:r>
              <a:t>Operational datasets were analyzed using pivot tables and dashboards.</a:t>
            </a:r>
          </a:p>
          <a:p>
            <a:r>
              <a:t>Current-state (As-Is) and future-state (To-Be) workflows were evaluated.</a:t>
            </a:r>
          </a:p>
          <a:p>
            <a:r>
              <a:t>Recommendations were developed to support data-driven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patient wait times by 25%.</a:t>
            </a:r>
          </a:p>
          <a:p>
            <a:r>
              <a:t>Improve patient satisfaction scores across all departments.</a:t>
            </a:r>
          </a:p>
          <a:p>
            <a:r>
              <a:t>Optimize utilization of medical resources and staff.</a:t>
            </a:r>
          </a:p>
          <a:p>
            <a:r>
              <a:t>Improve communication between hospital stakeholders.</a:t>
            </a:r>
          </a:p>
          <a:p>
            <a:r>
              <a:t>Standardize appointment scheduling workflows.</a:t>
            </a:r>
          </a:p>
          <a:p>
            <a:r>
              <a:t>Support leadership with dashboard-driven operational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Requirement Document (BRD)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 Patients experience long wait times and inconsistent service quality.</a:t>
            </a:r>
          </a:p>
          <a:p>
            <a:r>
              <a:t>Key Requirement: Implement centralized scheduling and resource tracking.</a:t>
            </a:r>
          </a:p>
          <a:p>
            <a:r>
              <a:t>Key Requirement: Improve communication between staff and departments.</a:t>
            </a:r>
          </a:p>
          <a:p>
            <a:r>
              <a:t>Constraint: Limited budget and existing legacy systems.</a:t>
            </a:r>
          </a:p>
          <a:p>
            <a:r>
              <a:t>Constraint: Staff availability and training timelines.</a:t>
            </a:r>
          </a:p>
          <a:p>
            <a:r>
              <a:t>Acceptance Criteria: 25% reduction in average wait time and improved feedback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Traceability Matrix (RTM)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REQ-001: Reduce appointment delays (Must Have).</a:t>
            </a:r>
          </a:p>
          <a:p>
            <a:r>
              <a:t>REQ-002: Improve patient communication workflows (Should Have).</a:t>
            </a:r>
          </a:p>
          <a:p>
            <a:r>
              <a:t>REQ-003: Optimize resource allocation (Must Have).</a:t>
            </a:r>
          </a:p>
          <a:p>
            <a:r>
              <a:t>REQ-004: Implement reporting dashboards (Could Have).</a:t>
            </a:r>
          </a:p>
          <a:p>
            <a:r>
              <a:t>REQ-005: Enhance stakeholder visibility into operations (Should Have).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Analysis &amp; Engagement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stakeholders include hospital executives, doctors, nurses, administrative staff, and patients.</a:t>
            </a:r>
          </a:p>
          <a:p>
            <a:r>
              <a:t>Executives hold high influence and require weekly progress updates.</a:t>
            </a:r>
          </a:p>
          <a:p>
            <a:r>
              <a:t>Doctors and nurses require workflow alignment and process training.</a:t>
            </a:r>
          </a:p>
          <a:p>
            <a:r>
              <a:t>Patients are primary beneficiaries and require transparent communication.</a:t>
            </a:r>
          </a:p>
          <a:p>
            <a:r>
              <a:t>Engagement strategies include workshops, feedback sessions, and pilot testing.</a:t>
            </a:r>
          </a:p>
          <a:p>
            <a:r>
              <a:t>Communication channels include dashboards, email summaries, and status meetings.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Management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Scope: Scheduling optimization, resource tracking, and operational reporting.</a:t>
            </a:r>
          </a:p>
          <a:p>
            <a:r>
              <a:t>Out of Scope: Clinical treatment changes and external vendor systems.</a:t>
            </a:r>
          </a:p>
          <a:p>
            <a:r>
              <a:t>Assumption: Existing hospital systems support integration requirements.</a:t>
            </a:r>
          </a:p>
          <a:p>
            <a:r>
              <a:t>Constraint: Limited project budget and timeline.</a:t>
            </a:r>
          </a:p>
          <a:p>
            <a:r>
              <a:t>WBS Phases: Requirements, Analysis, Design, Testing, Deployment.</a:t>
            </a:r>
          </a:p>
          <a:p>
            <a:r>
              <a:t>Scope changes require stakeholder approval and impact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As-Is Process: Manual appointment scheduling caused delays and inconsistent updates.</a:t>
            </a:r>
          </a:p>
          <a:p>
            <a:r>
              <a:t>To-Be Process: Automated scheduling with real-time notifications and dashboard monitoring.</a:t>
            </a:r>
          </a:p>
          <a:p>
            <a:r>
              <a:t>As-Is Process: Reactive resource allocation led to department bottlenecks.</a:t>
            </a:r>
          </a:p>
          <a:p>
            <a:r>
              <a:t>To-Be Process: Predictive resource planning improves efficiency and availability.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Process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BPMN workflows clarified patient scheduling, approvals, and escalation paths.</a:t>
            </a:r>
          </a:p>
          <a:p>
            <a:r>
              <a:t>Swimlane diagrams defined stakeholder ownership and responsibilities.</a:t>
            </a:r>
          </a:p>
          <a:p>
            <a:r>
              <a:t>Process mapping reduced ambiguity in operational handoffs.</a:t>
            </a:r>
          </a:p>
          <a:p>
            <a:r>
              <a:t>Improved visibility supports faster issue resolution and accountability.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- Wait Time Analysis</a:t>
            </a:r>
          </a:p>
        </p:txBody>
      </p:sp>
      <p:pic>
        <p:nvPicPr>
          <p:cNvPr id="3" name="Picture 2" descr="wait_tim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- Resource Utilization</a:t>
            </a:r>
          </a:p>
        </p:txBody>
      </p:sp>
      <p:pic>
        <p:nvPicPr>
          <p:cNvPr id="3" name="Picture 2" descr="resource_utiliz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- Patient Feedback</a:t>
            </a:r>
          </a:p>
        </p:txBody>
      </p:sp>
      <p:pic>
        <p:nvPicPr>
          <p:cNvPr id="3" name="Picture 2" descr="feedback_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- Department Efficiency Heat Map</a:t>
            </a:r>
          </a:p>
        </p:txBody>
      </p:sp>
      <p:pic>
        <p:nvPicPr>
          <p:cNvPr id="3" name="Picture 2" descr="depart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patient wait time ranged from 39.4 to 43.9 minutes across departments.</a:t>
            </a:r>
          </a:p>
          <a:p>
            <a:r>
              <a:t>Cardiology and General Medicine experienced the highest scheduling pressure.</a:t>
            </a:r>
          </a:p>
          <a:p>
            <a:r>
              <a:t>Resource utilization data identified uneven equipment and staffing usage.</a:t>
            </a:r>
          </a:p>
          <a:p>
            <a:r>
              <a:t>Higher wait times corresponded with lower patient satisfaction scores.</a:t>
            </a:r>
          </a:p>
          <a:p>
            <a:r>
              <a:t>Operational bottlenecks were concentrated during peak appointment periods.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Risk: Scheduling system downtime may disrupt patient appointments.</a:t>
            </a:r>
          </a:p>
          <a:p>
            <a:r>
              <a:t>Technology Risk: Legacy system integration may delay implementation.</a:t>
            </a:r>
          </a:p>
          <a:p>
            <a:r>
              <a:t>Resource Risk: Limited staffing could impact rollout timelines.</a:t>
            </a:r>
          </a:p>
          <a:p>
            <a:r>
              <a:t>Compliance Risk: Patient data privacy must remain protected.</a:t>
            </a:r>
          </a:p>
          <a:p>
            <a:r>
              <a:t>Mitigation strategies include phased deployment and staff training.</a:t>
            </a:r>
          </a:p>
          <a:p>
            <a:r>
              <a:t>Risk assessment matrices were used to prioritize corrective actions.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phased deployment to reduce operational disruption.</a:t>
            </a:r>
          </a:p>
          <a:p>
            <a:r>
              <a:t>Establish backup scheduling procedures for downtime events.</a:t>
            </a:r>
          </a:p>
          <a:p>
            <a:r>
              <a:t>Conduct user training sessions before rollout.</a:t>
            </a:r>
          </a:p>
          <a:p>
            <a:r>
              <a:t>Monitor KPIs through dashboards and weekly governance reviews.</a:t>
            </a:r>
          </a:p>
          <a:p>
            <a:r>
              <a:t>Use contingency staffing plans during peak operational periods.</a:t>
            </a:r>
          </a:p>
          <a:p>
            <a:r>
              <a:t>Prioritize high-severity risks for immediate mitigation.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 patient wait times significantly reduced satisfaction scores.</a:t>
            </a:r>
          </a:p>
          <a:p>
            <a:r>
              <a:t>Resource utilization patterns revealed operational inefficiencies across departments.</a:t>
            </a:r>
          </a:p>
          <a:p>
            <a:r>
              <a:t>Improved communication and automation can reduce bottlenecks and improve patient experience.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centralized appointment scheduling software.</a:t>
            </a:r>
          </a:p>
          <a:p>
            <a:r>
              <a:t>Implement real-time operational dashboards for leadership visibility.</a:t>
            </a:r>
          </a:p>
          <a:p>
            <a:r>
              <a:t>Improve staff coordination through standardized communication workflows.</a:t>
            </a:r>
          </a:p>
          <a:p>
            <a:r>
              <a:t>Adopt predictive resource allocation and staffing models.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identified operational inefficiencies impacting patient experience.</a:t>
            </a:r>
          </a:p>
          <a:p>
            <a:r>
              <a:t>Data-driven insights supported targeted recommendations for process optimization.</a:t>
            </a:r>
          </a:p>
          <a:p>
            <a:r>
              <a:t>Risk management planning improved implementation readiness.</a:t>
            </a:r>
          </a:p>
          <a:p>
            <a:r>
              <a:t>Operational dashboards and automation are expected to improve efficiency and satisfaction.</a:t>
            </a:r>
          </a:p>
          <a:p>
            <a:r>
              <a:t>The proposed solutions align with HealthFirst Care’s strategic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